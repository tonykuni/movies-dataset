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5E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F897C"/>
                </a:solidFill>
                <a:latin typeface="DM Mono"/>
              </a:rPr>
              <a:t>VERITASPULSE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 i="0">
                <a:solidFill>
                  <a:srgbClr val="F5F4F0"/>
                </a:solidFill>
                <a:latin typeface="Syne"/>
              </a:rPr>
              <a:t>VIA Visual Lock v1 — Closeout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7548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2DFD6"/>
                </a:solidFill>
                <a:latin typeface="DM Sans"/>
              </a:rPr>
              <a:t>Formalise the VIA design-DNA spec and close the VDF/VRN PanoramaFix 278-issue backlog across a 5-wave, risk-tiered plan.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035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8F897C"/>
                </a:solidFill>
                <a:latin typeface="DM Mono"/>
              </a:rPr>
              <a:t>VPL-DEMO-01   ·   Owner: Tony   ·   2026-05-01 → 2026-06-20   ·   2026-05-31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13232"/>
            <a:ext cx="128016" cy="128016"/>
          </a:xfrm>
          <a:prstGeom prst="roundRect">
            <a:avLst>
              <a:gd name="adj" fmla="val 30000"/>
            </a:avLst>
          </a:prstGeom>
          <a:solidFill>
            <a:srgbClr val="5E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A1916"/>
                </a:solidFill>
                <a:latin typeface="Syne"/>
              </a:rPr>
              <a:t>Executive Snapshot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2615184" cy="1737360"/>
          </a:xfrm>
          <a:prstGeom prst="roundRect">
            <a:avLst>
              <a:gd name="adj" fmla="val 6000"/>
            </a:avLst>
          </a:prstGeom>
          <a:solidFill>
            <a:srgbClr val="FBFAF7"/>
          </a:solidFill>
          <a:ln w="12700">
            <a:solidFill>
              <a:srgbClr val="E2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81912"/>
            <a:ext cx="64008" cy="1408176"/>
          </a:xfrm>
          <a:prstGeom prst="roundRect">
            <a:avLst/>
          </a:prstGeom>
          <a:solidFill>
            <a:srgbClr val="5E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636776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F897C"/>
                </a:solidFill>
                <a:latin typeface="DM Mono"/>
              </a:rPr>
              <a:t>COMPLETION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1984248"/>
            <a:ext cx="22494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A1916"/>
                </a:solidFill>
                <a:latin typeface="Syne"/>
              </a:rPr>
              <a:t>68%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752344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E7032"/>
                </a:solidFill>
                <a:latin typeface="DM Mono"/>
              </a:rPr>
              <a:t>weighted avg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02736" y="1417320"/>
            <a:ext cx="2615184" cy="1737360"/>
          </a:xfrm>
          <a:prstGeom prst="roundRect">
            <a:avLst>
              <a:gd name="adj" fmla="val 6000"/>
            </a:avLst>
          </a:prstGeom>
          <a:solidFill>
            <a:srgbClr val="FBFAF7"/>
          </a:solidFill>
          <a:ln w="12700">
            <a:solidFill>
              <a:srgbClr val="E2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02736" y="1581912"/>
            <a:ext cx="64008" cy="1408176"/>
          </a:xfrm>
          <a:prstGeom prst="roundRect">
            <a:avLst/>
          </a:prstGeom>
          <a:solidFill>
            <a:srgbClr val="355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8768" y="1636776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F897C"/>
                </a:solidFill>
                <a:latin typeface="DM Mono"/>
              </a:rPr>
              <a:t>TASKS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984248"/>
            <a:ext cx="22494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A1916"/>
                </a:solidFill>
                <a:latin typeface="Syne"/>
              </a:rPr>
              <a:t>4/8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58768" y="2752344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5506B"/>
                </a:solidFill>
                <a:latin typeface="DM Mono"/>
              </a:rPr>
              <a:t>on track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1417320"/>
            <a:ext cx="2615184" cy="1737360"/>
          </a:xfrm>
          <a:prstGeom prst="roundRect">
            <a:avLst>
              <a:gd name="adj" fmla="val 6000"/>
            </a:avLst>
          </a:prstGeom>
          <a:solidFill>
            <a:srgbClr val="FBFAF7"/>
          </a:solidFill>
          <a:ln w="12700">
            <a:solidFill>
              <a:srgbClr val="E2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82512" y="1581912"/>
            <a:ext cx="64008" cy="1408176"/>
          </a:xfrm>
          <a:prstGeom prst="roundRect">
            <a:avLst/>
          </a:prstGeom>
          <a:solidFill>
            <a:srgbClr val="9A6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8544" y="1636776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F897C"/>
                </a:solidFill>
                <a:latin typeface="DM Mono"/>
              </a:rPr>
              <a:t>BUDGET 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0256" y="1984248"/>
            <a:ext cx="22494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A1916"/>
                </a:solidFill>
                <a:latin typeface="Syne"/>
              </a:rPr>
              <a:t>77%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2752344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A6B2F"/>
                </a:solidFill>
                <a:latin typeface="DM Mono"/>
              </a:rPr>
              <a:t>$125k / $162k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62288" y="1417320"/>
            <a:ext cx="2615184" cy="1737360"/>
          </a:xfrm>
          <a:prstGeom prst="roundRect">
            <a:avLst>
              <a:gd name="adj" fmla="val 6000"/>
            </a:avLst>
          </a:prstGeom>
          <a:solidFill>
            <a:srgbClr val="FBFAF7"/>
          </a:solidFill>
          <a:ln w="12700">
            <a:solidFill>
              <a:srgbClr val="E2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62288" y="1581912"/>
            <a:ext cx="64008" cy="1408176"/>
          </a:xfrm>
          <a:prstGeom prst="roundRect">
            <a:avLst/>
          </a:prstGeom>
          <a:solidFill>
            <a:srgbClr val="8A3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19" y="1636776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F897C"/>
                </a:solidFill>
                <a:latin typeface="DM Mono"/>
              </a:rPr>
              <a:t>OPEN RISKS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1984248"/>
            <a:ext cx="22494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1A1916"/>
                </a:solidFill>
                <a:latin typeface="Syne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2752344"/>
            <a:ext cx="22494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A3B2E"/>
                </a:solidFill>
                <a:latin typeface="DM Mono"/>
              </a:rPr>
              <a:t>active mitigations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5204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8F897C"/>
                </a:solidFill>
                <a:latin typeface="DM Mono"/>
              </a:rPr>
              <a:t>MILESTONES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032503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8F8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3941063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916"/>
                </a:solidFill>
                <a:latin typeface="DM Sans"/>
              </a:rPr>
              <a:t>Visual Lock spec frozen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3941063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F897C"/>
                </a:solidFill>
                <a:latin typeface="DM Mono"/>
              </a:rPr>
              <a:t>due 2026-05-31   ·   pending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599431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8F8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450799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916"/>
                </a:solidFill>
                <a:latin typeface="DM Sans"/>
              </a:rPr>
              <a:t>PanoramaFix closeout (applied&gt;0)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450799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F897C"/>
                </a:solidFill>
                <a:latin typeface="DM Mono"/>
              </a:rPr>
              <a:t>due 2026-06-04   ·   pending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166359"/>
            <a:ext cx="109728" cy="109728"/>
          </a:xfrm>
          <a:prstGeom prst="roundRect">
            <a:avLst>
              <a:gd name="adj" fmla="val 30000"/>
            </a:avLst>
          </a:prstGeom>
          <a:solidFill>
            <a:srgbClr val="8F89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0749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916"/>
                </a:solidFill>
                <a:latin typeface="DM Sans"/>
              </a:rPr>
              <a:t>Module Standard GA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50749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8F897C"/>
                </a:solidFill>
                <a:latin typeface="DM Mono"/>
              </a:rPr>
              <a:t>due 2026-06-20   ·   pending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13232"/>
            <a:ext cx="128016" cy="128016"/>
          </a:xfrm>
          <a:prstGeom prst="roundRect">
            <a:avLst>
              <a:gd name="adj" fmla="val 30000"/>
            </a:avLst>
          </a:prstGeom>
          <a:solidFill>
            <a:srgbClr val="5E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A1916"/>
                </a:solidFill>
                <a:latin typeface="Syne"/>
              </a:rPr>
              <a:t>Timeline &amp;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0789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897C"/>
                </a:solidFill>
                <a:latin typeface="DM Mono"/>
              </a:rPr>
              <a:t>Gantt · status-coloured · progress overlay</a:t>
            </a:r>
          </a:p>
        </p:txBody>
      </p:sp>
      <p:pic>
        <p:nvPicPr>
          <p:cNvPr id="6" name="Picture 5" descr="chart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556" y="1554480"/>
            <a:ext cx="888783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13232"/>
            <a:ext cx="128016" cy="128016"/>
          </a:xfrm>
          <a:prstGeom prst="roundRect">
            <a:avLst>
              <a:gd name="adj" fmla="val 30000"/>
            </a:avLst>
          </a:prstGeom>
          <a:solidFill>
            <a:srgbClr val="5E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A1916"/>
                </a:solidFill>
                <a:latin typeface="Syne"/>
              </a:rPr>
              <a:t>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0789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897C"/>
                </a:solidFill>
                <a:latin typeface="DM Mono"/>
              </a:rPr>
              <a:t>Planned vs Actual</a:t>
            </a:r>
          </a:p>
        </p:txBody>
      </p:sp>
      <p:pic>
        <p:nvPicPr>
          <p:cNvPr id="6" name="Picture 5" descr="chart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12263"/>
            <a:ext cx="6766560" cy="34679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737360"/>
            <a:ext cx="359633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F897C"/>
                </a:solidFill>
                <a:latin typeface="DM Mono"/>
              </a:rPr>
              <a:t>VARIANCE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4000" b="1" i="0">
                <a:solidFill>
                  <a:srgbClr val="5E7032"/>
                </a:solidFill>
                <a:latin typeface="Syne"/>
              </a:rPr>
              <a:t>$+37k</a:t>
            </a:r>
          </a:p>
          <a:p>
            <a:pPr algn="l">
              <a:lnSpc>
                <a:spcPct val="115000"/>
              </a:lnSpc>
              <a:spcBef>
                <a:spcPts val="200"/>
              </a:spcBef>
            </a:pPr>
            <a:r>
              <a:rPr sz="1300" b="0" i="0">
                <a:solidFill>
                  <a:srgbClr val="56524A"/>
                </a:solidFill>
                <a:latin typeface="DM Sans"/>
              </a:rPr>
              <a:t>Under budget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200" b="0" i="0">
                <a:solidFill>
                  <a:srgbClr val="8F897C"/>
                </a:solidFill>
                <a:latin typeface="DM Mono"/>
              </a:rPr>
              <a:t>Spent $125k of $162k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13232"/>
            <a:ext cx="128016" cy="128016"/>
          </a:xfrm>
          <a:prstGeom prst="roundRect">
            <a:avLst>
              <a:gd name="adj" fmla="val 30000"/>
            </a:avLst>
          </a:prstGeom>
          <a:solidFill>
            <a:srgbClr val="5E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A1916"/>
                </a:solidFill>
                <a:latin typeface="Syne"/>
              </a:rPr>
              <a:t>Risk &amp;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0789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897C"/>
                </a:solidFill>
                <a:latin typeface="DM Mono"/>
              </a:rPr>
              <a:t>Probability × Impact</a:t>
            </a:r>
          </a:p>
        </p:txBody>
      </p:sp>
      <p:pic>
        <p:nvPicPr>
          <p:cNvPr id="6" name="Picture 5" descr="chart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41932"/>
            <a:ext cx="5486400" cy="4608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92240" y="1737360"/>
            <a:ext cx="487649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F897C"/>
                </a:solidFill>
                <a:latin typeface="DM Mono"/>
              </a:rPr>
              <a:t>TOP RISKS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300" b="1" i="0">
                <a:solidFill>
                  <a:srgbClr val="1A1916"/>
                </a:solidFill>
                <a:latin typeface="DM Sans"/>
              </a:rPr>
              <a:t>●  wave-3 patch fails applied&gt;0 gate</a:t>
            </a:r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sz="1100" b="0" i="0">
                <a:solidFill>
                  <a:srgbClr val="8F897C"/>
                </a:solidFill>
                <a:latin typeface="DM Mono"/>
              </a:rPr>
              <a:t>   P3×I5 = 15  ·  active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300" b="1" i="0">
                <a:solidFill>
                  <a:srgbClr val="1A1916"/>
                </a:solidFill>
                <a:latin typeface="DM Sans"/>
              </a:rPr>
              <a:t>●  numpy 2.0 leak into vpl_core</a:t>
            </a:r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sz="1100" b="0" i="0">
                <a:solidFill>
                  <a:srgbClr val="8F897C"/>
                </a:solidFill>
                <a:latin typeface="DM Mono"/>
              </a:rPr>
              <a:t>   P2×I4 = 8  ·  active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300" b="1" i="0">
                <a:solidFill>
                  <a:srgbClr val="1A1916"/>
                </a:solidFill>
                <a:latin typeface="DM Sans"/>
              </a:rPr>
              <a:t>●  Font fallback breaks brand render</a:t>
            </a:r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sz="1100" b="0" i="0">
                <a:solidFill>
                  <a:srgbClr val="8F897C"/>
                </a:solidFill>
                <a:latin typeface="DM Mono"/>
              </a:rPr>
              <a:t>   P4×I2 = 8  ·  active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300" b="1" i="0">
                <a:solidFill>
                  <a:srgbClr val="1A1916"/>
                </a:solidFill>
                <a:latin typeface="DM Sans"/>
              </a:rPr>
              <a:t>●  Seaborn/matplotlib pin drift</a:t>
            </a:r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sz="1100" b="0" i="0">
                <a:solidFill>
                  <a:srgbClr val="8F897C"/>
                </a:solidFill>
                <a:latin typeface="DM Mono"/>
              </a:rPr>
              <a:t>   P2×I3 = 6  ·  watch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13232"/>
            <a:ext cx="128016" cy="128016"/>
          </a:xfrm>
          <a:prstGeom prst="roundRect">
            <a:avLst>
              <a:gd name="adj" fmla="val 30000"/>
            </a:avLst>
          </a:prstGeom>
          <a:solidFill>
            <a:srgbClr val="5E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" y="56692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A1916"/>
                </a:solidFill>
                <a:latin typeface="Syne"/>
              </a:rPr>
              <a:t>Stakeholders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078992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897C"/>
                </a:solidFill>
                <a:latin typeface="DM Mono"/>
              </a:rPr>
              <a:t>Power / Interest matrix</a:t>
            </a:r>
          </a:p>
        </p:txBody>
      </p:sp>
      <p:pic>
        <p:nvPicPr>
          <p:cNvPr id="6" name="Picture 5" descr="chart_st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51660"/>
            <a:ext cx="585216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1737360"/>
            <a:ext cx="451073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F897C"/>
                </a:solidFill>
                <a:latin typeface="DM Mono"/>
              </a:rPr>
              <a:t>ENGAGEMENT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250" b="1" i="0">
                <a:solidFill>
                  <a:srgbClr val="1A1916"/>
                </a:solidFill>
                <a:latin typeface="DM Sans"/>
              </a:rPr>
              <a:t>●  Tony (Owner/Architect)</a:t>
            </a:r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sz="1050" b="0" i="0">
                <a:solidFill>
                  <a:srgbClr val="8F897C"/>
                </a:solidFill>
                <a:latin typeface="DM Mono"/>
              </a:rPr>
              <a:t>   Decision  ·  P5/I5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250" b="1" i="0">
                <a:solidFill>
                  <a:srgbClr val="1A1916"/>
                </a:solidFill>
                <a:latin typeface="DM Sans"/>
              </a:rPr>
              <a:t>●  VIA downstream consumers</a:t>
            </a:r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sz="1050" b="0" i="0">
                <a:solidFill>
                  <a:srgbClr val="8F897C"/>
                </a:solidFill>
                <a:latin typeface="DM Mono"/>
              </a:rPr>
              <a:t>   Affected  ·  P2/I5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250" b="1" i="0">
                <a:solidFill>
                  <a:srgbClr val="1A1916"/>
                </a:solidFill>
                <a:latin typeface="DM Sans"/>
              </a:rPr>
              <a:t>●  Future maintainers</a:t>
            </a:r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sz="1050" b="0" i="0">
                <a:solidFill>
                  <a:srgbClr val="8F897C"/>
                </a:solidFill>
                <a:latin typeface="DM Mono"/>
              </a:rPr>
              <a:t>   Affected  ·  P3/I4</a:t>
            </a:r>
          </a:p>
          <a:p>
            <a:pPr algn="l">
              <a:lnSpc>
                <a:spcPct val="115000"/>
              </a:lnSpc>
              <a:spcBef>
                <a:spcPts val="900"/>
              </a:spcBef>
            </a:pPr>
            <a:r>
              <a:rPr sz="1250" b="1" i="0">
                <a:solidFill>
                  <a:srgbClr val="1A1916"/>
                </a:solidFill>
                <a:latin typeface="DM Sans"/>
              </a:rPr>
              <a:t>●  Anthropic tooling</a:t>
            </a:r>
          </a:p>
          <a:p>
            <a:pPr algn="l">
              <a:lnSpc>
                <a:spcPct val="115000"/>
              </a:lnSpc>
              <a:spcBef>
                <a:spcPts val="100"/>
              </a:spcBef>
            </a:pPr>
            <a:r>
              <a:rPr sz="1050" b="0" i="0">
                <a:solidFill>
                  <a:srgbClr val="8F897C"/>
                </a:solidFill>
                <a:latin typeface="DM Mono"/>
              </a:rPr>
              <a:t>   Support  ·  P2/I2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9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468880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5E7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5F4F0"/>
                </a:solidFill>
                <a:latin typeface="Syne"/>
              </a:rPr>
              <a:t>Generated by VeritasPulse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1148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897C"/>
                </a:solidFill>
                <a:latin typeface="DM Mono"/>
              </a:rPr>
              <a:t>VPL · Project &amp; Time Intelligence   ·   2026-05-31 14:56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